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4" r:id="rId7"/>
    <p:sldId id="265" r:id="rId8"/>
    <p:sldId id="269" r:id="rId9"/>
    <p:sldId id="270" r:id="rId10"/>
    <p:sldId id="271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6BD89-50EE-466F-8361-6020B6AA25FC}" v="13" dt="2026-09-29T09:06:39.7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5B5F-2999-E01E-665F-5553B1AFA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Feature Importance Analysis for Purchase Prediction Using </a:t>
            </a:r>
            <a:r>
              <a:rPr lang="en-US" sz="3600" dirty="0" err="1"/>
              <a:t>XGBoost</a:t>
            </a:r>
            <a:r>
              <a:rPr lang="en-US" sz="3600" dirty="0"/>
              <a:t> and </a:t>
            </a:r>
            <a:r>
              <a:rPr lang="en-US" sz="3600" dirty="0" err="1"/>
              <a:t>LightGBM</a:t>
            </a:r>
            <a:r>
              <a:rPr lang="en-US" sz="3600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E1B0B-76D0-2043-9F62-3D2A98DAC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7771" y="4707393"/>
            <a:ext cx="6831673" cy="1086237"/>
          </a:xfrm>
        </p:spPr>
        <p:txBody>
          <a:bodyPr/>
          <a:lstStyle/>
          <a:p>
            <a:pPr lvl="0" algn="l"/>
            <a:r>
              <a:rPr lang="en-US" dirty="0"/>
              <a:t>Name: </a:t>
            </a:r>
            <a:r>
              <a:rPr lang="en-US" dirty="0" err="1"/>
              <a:t>N.Teja</a:t>
            </a:r>
            <a:r>
              <a:rPr lang="en-US" dirty="0"/>
              <a:t> </a:t>
            </a:r>
            <a:r>
              <a:rPr lang="en-US" dirty="0" err="1"/>
              <a:t>sri</a:t>
            </a:r>
            <a:r>
              <a:rPr lang="en-US" dirty="0"/>
              <a:t> | Roll: 2520030139 </a:t>
            </a:r>
          </a:p>
          <a:p>
            <a:pPr lvl="0" algn="l"/>
            <a:r>
              <a:rPr lang="en-US" dirty="0"/>
              <a:t>Name: </a:t>
            </a:r>
            <a:r>
              <a:rPr lang="en-US" dirty="0" err="1"/>
              <a:t>B.Hema</a:t>
            </a:r>
            <a:r>
              <a:rPr lang="en-US" dirty="0"/>
              <a:t> </a:t>
            </a:r>
            <a:r>
              <a:rPr lang="en-US" dirty="0" err="1"/>
              <a:t>sri</a:t>
            </a:r>
            <a:r>
              <a:rPr lang="en-US" dirty="0"/>
              <a:t> | Roll: 2520030159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13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4395-7C1A-D20F-DDCB-6E5111C3A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5249" y="1146197"/>
            <a:ext cx="8121501" cy="671717"/>
          </a:xfrm>
        </p:spPr>
        <p:txBody>
          <a:bodyPr/>
          <a:lstStyle/>
          <a:p>
            <a:r>
              <a:rPr lang="en-US" sz="3600" dirty="0"/>
              <a:t>Abstract</a:t>
            </a: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735FE-1B31-315E-01A9-7E6B5D575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6658" y="1817914"/>
            <a:ext cx="8806542" cy="377734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Predicting customer purchase intent on e-commerce platforms is crucial for optimizing marketing, increasing engagement, and driving sales. This project builds a predictive purchase model using two gradient boosting algorithms: </a:t>
            </a:r>
            <a:r>
              <a:rPr lang="en-US" dirty="0" err="1"/>
              <a:t>XGBoost</a:t>
            </a:r>
            <a:r>
              <a:rPr lang="en-US" dirty="0"/>
              <a:t> and </a:t>
            </a:r>
            <a:r>
              <a:rPr lang="en-US" dirty="0" err="1"/>
              <a:t>LightGBM</a:t>
            </a:r>
            <a:r>
              <a:rPr lang="en-US" dirty="0"/>
              <a:t>, known for high accuracy and efficiency on large datasets. The process includes preprocessing (handling missing values, encoding, and normalization), model training, and performance evaluation using Accuracy, Precision, Recall, F1-Score and Confusion Matrices. A central focus is Feature Importance Analysis to identify key drivers such as product category, session duration, discounts, and past purchase behavior. This analysis enhances model transparency, helping businesses execute data-driven marketing, customer segmentation, and inventory planning. </a:t>
            </a:r>
          </a:p>
        </p:txBody>
      </p:sp>
    </p:spTree>
    <p:extLst>
      <p:ext uri="{BB962C8B-B14F-4D97-AF65-F5344CB8AC3E}">
        <p14:creationId xmlns:p14="http://schemas.microsoft.com/office/powerpoint/2010/main" val="432059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192E8-2E54-ABAB-79F4-41205B286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042" y="1548106"/>
            <a:ext cx="8045301" cy="544286"/>
          </a:xfrm>
        </p:spPr>
        <p:txBody>
          <a:bodyPr/>
          <a:lstStyle/>
          <a:p>
            <a:r>
              <a:rPr lang="en-US" sz="3600" dirty="0"/>
              <a:t>Abstract (cont..)</a:t>
            </a: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35AC9-E06B-57AB-251A-69F84FF54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2714" y="2307771"/>
            <a:ext cx="7609115" cy="27347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The comparison between </a:t>
            </a:r>
            <a:r>
              <a:rPr lang="en-US" dirty="0" err="1"/>
              <a:t>XGBoost</a:t>
            </a:r>
            <a:r>
              <a:rPr lang="en-US" dirty="0"/>
              <a:t> and </a:t>
            </a:r>
            <a:r>
              <a:rPr lang="en-US" dirty="0" err="1"/>
              <a:t>LightGBM</a:t>
            </a:r>
            <a:r>
              <a:rPr lang="en-US" dirty="0"/>
              <a:t> highlights how feature importance insights assist in understanding complex customer preferences. By converting customer interactions into actionable predictions, the proposed system demonstrates the practical value of ensemble learning techniques in e-commerce applications. Ultimately, the study bridges statistical performance with business decision-making, ensuring both predictive power and model interpretability. </a:t>
            </a:r>
          </a:p>
        </p:txBody>
      </p:sp>
    </p:spTree>
    <p:extLst>
      <p:ext uri="{BB962C8B-B14F-4D97-AF65-F5344CB8AC3E}">
        <p14:creationId xmlns:p14="http://schemas.microsoft.com/office/powerpoint/2010/main" val="270582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E4309-F2DF-BC2B-33EA-590985FD8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274" y="1102895"/>
            <a:ext cx="9601200" cy="148590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890CB-035F-718D-FC66-669D15285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develop a machine learning system that predicts whether an e-commerce customer will purchase a product based on customer demographics, browsing behavior, product category, discounts, session duration, ratings, and previous purchase history, while identifying the most influential features using </a:t>
            </a:r>
            <a:r>
              <a:rPr lang="en-US" dirty="0" err="1"/>
              <a:t>XGBoost</a:t>
            </a:r>
            <a:r>
              <a:rPr lang="en-US" dirty="0"/>
              <a:t> and </a:t>
            </a:r>
            <a:r>
              <a:rPr lang="en-US" dirty="0" err="1"/>
              <a:t>LightGBM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965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2273-4EAF-1FC8-E448-0FB158B39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9186" y="1385682"/>
            <a:ext cx="8056186" cy="606403"/>
          </a:xfrm>
        </p:spPr>
        <p:txBody>
          <a:bodyPr/>
          <a:lstStyle/>
          <a:p>
            <a:r>
              <a:rPr lang="en-US" sz="3400" dirty="0"/>
              <a:t>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DCCE9-52F5-182A-882C-B10322CA6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9186" y="2068287"/>
            <a:ext cx="8339214" cy="2710542"/>
          </a:xfrm>
        </p:spPr>
        <p:txBody>
          <a:bodyPr>
            <a:normAutofit fontScale="85000" lnSpcReduction="20000"/>
          </a:bodyPr>
          <a:lstStyle/>
          <a:p>
            <a:pPr lvl="0" algn="l"/>
            <a:r>
              <a:rPr lang="en-US" sz="2700" b="1" dirty="0"/>
              <a:t>Source:</a:t>
            </a:r>
            <a:r>
              <a:rPr lang="en-US" sz="2700" dirty="0"/>
              <a:t> E-Commerce Customer Purchase Dataset (CSV format). </a:t>
            </a:r>
          </a:p>
          <a:p>
            <a:pPr lvl="0" algn="l"/>
            <a:r>
              <a:rPr lang="en-US" sz="2700" b="1" dirty="0"/>
              <a:t>Type:</a:t>
            </a:r>
            <a:r>
              <a:rPr lang="en-US" sz="2700" dirty="0"/>
              <a:t> Structured tabular data containing customer interactions, browsing behavior, product attributes, and target purchase status. </a:t>
            </a:r>
          </a:p>
          <a:p>
            <a:pPr lvl="0" algn="l"/>
            <a:r>
              <a:rPr lang="en-US" sz="2700" b="1" dirty="0"/>
              <a:t>Features:</a:t>
            </a:r>
            <a:r>
              <a:rPr lang="en-US" sz="2700" dirty="0"/>
              <a:t> Customer demographics, browsing history, product category, discounts, session duration, ratings, and previous purchase details. </a:t>
            </a:r>
          </a:p>
          <a:p>
            <a:pPr lvl="0" algn="l"/>
            <a:r>
              <a:rPr lang="en-US" sz="2700" b="1" dirty="0"/>
              <a:t>Target:</a:t>
            </a:r>
            <a:r>
              <a:rPr lang="en-US" sz="2700" dirty="0"/>
              <a:t> Purchase Decision (Binary Classification: Purchased / Not Purchased).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660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DA4F9-9DD1-2C2B-78BF-B1FE98219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3871" y="166483"/>
            <a:ext cx="8361229" cy="2098226"/>
          </a:xfrm>
        </p:spPr>
        <p:txBody>
          <a:bodyPr/>
          <a:lstStyle/>
          <a:p>
            <a:r>
              <a:rPr lang="en-US" sz="3400" b="1" dirty="0"/>
              <a:t>Existing System vs Modified System</a:t>
            </a:r>
            <a:br>
              <a:rPr lang="en-US" sz="3600" dirty="0"/>
            </a:b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2544E-40CF-93DD-4694-180B1EEA2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0714" y="2046514"/>
            <a:ext cx="8361229" cy="3224220"/>
          </a:xfrm>
        </p:spPr>
        <p:txBody>
          <a:bodyPr/>
          <a:lstStyle/>
          <a:p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C8375F-45E2-2E5F-99C4-419E16440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612743"/>
              </p:ext>
            </p:extLst>
          </p:nvPr>
        </p:nvGraphicFramePr>
        <p:xfrm>
          <a:off x="1295400" y="1926772"/>
          <a:ext cx="9492342" cy="35922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64114">
                  <a:extLst>
                    <a:ext uri="{9D8B030D-6E8A-4147-A177-3AD203B41FA5}">
                      <a16:colId xmlns:a16="http://schemas.microsoft.com/office/drawing/2014/main" val="1389660778"/>
                    </a:ext>
                  </a:extLst>
                </a:gridCol>
                <a:gridCol w="3164114">
                  <a:extLst>
                    <a:ext uri="{9D8B030D-6E8A-4147-A177-3AD203B41FA5}">
                      <a16:colId xmlns:a16="http://schemas.microsoft.com/office/drawing/2014/main" val="1376896754"/>
                    </a:ext>
                  </a:extLst>
                </a:gridCol>
                <a:gridCol w="3164114">
                  <a:extLst>
                    <a:ext uri="{9D8B030D-6E8A-4147-A177-3AD203B41FA5}">
                      <a16:colId xmlns:a16="http://schemas.microsoft.com/office/drawing/2014/main" val="1181880982"/>
                    </a:ext>
                  </a:extLst>
                </a:gridCol>
              </a:tblGrid>
              <a:tr h="303458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Aspect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Existing System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Modified System (Proposed)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extLst>
                  <a:ext uri="{0D108BD9-81ED-4DB2-BD59-A6C34878D82A}">
                    <a16:rowId xmlns:a16="http://schemas.microsoft.com/office/drawing/2014/main" val="2613586876"/>
                  </a:ext>
                </a:extLst>
              </a:tr>
              <a:tr h="524901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Algorithms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Logistic Regression, Decision Trees, Basic Random Forest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XGBoost &amp; LightGBM 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extLst>
                  <a:ext uri="{0D108BD9-81ED-4DB2-BD59-A6C34878D82A}">
                    <a16:rowId xmlns:a16="http://schemas.microsoft.com/office/drawing/2014/main" val="3894434474"/>
                  </a:ext>
                </a:extLst>
              </a:tr>
              <a:tr h="524901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Model Interpretability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Low; basic feature weights or black-box predictions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High; feature importance ranking.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extLst>
                  <a:ext uri="{0D108BD9-81ED-4DB2-BD59-A6C34878D82A}">
                    <a16:rowId xmlns:a16="http://schemas.microsoft.com/office/drawing/2014/main" val="2224824969"/>
                  </a:ext>
                </a:extLst>
              </a:tr>
              <a:tr h="74634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Processing Efficiency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Slower training speed on large-scale e-commerce datasets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Fast parallel processing &amp; memory-efficient leaf-wise growth 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extLst>
                  <a:ext uri="{0D108BD9-81ED-4DB2-BD59-A6C34878D82A}">
                    <a16:rowId xmlns:a16="http://schemas.microsoft.com/office/drawing/2014/main" val="1817145151"/>
                  </a:ext>
                </a:extLst>
              </a:tr>
              <a:tr h="74634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Handling Complex Data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Struggles with high-dimensional non-linear features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Captures complex non-linear interactions across variables effectively 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extLst>
                  <a:ext uri="{0D108BD9-81ED-4DB2-BD59-A6C34878D82A}">
                    <a16:rowId xmlns:a16="http://schemas.microsoft.com/office/drawing/2014/main" val="2321244876"/>
                  </a:ext>
                </a:extLst>
              </a:tr>
              <a:tr h="74634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Primary Focus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Basic prediction outputs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High predictive performance combined with business interpretability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61325" marR="61325" marT="40884" marB="40884" anchor="ctr"/>
                </a:tc>
                <a:extLst>
                  <a:ext uri="{0D108BD9-81ED-4DB2-BD59-A6C34878D82A}">
                    <a16:rowId xmlns:a16="http://schemas.microsoft.com/office/drawing/2014/main" val="786644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58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5B58E-21D9-AF2D-0656-623629039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6899" y="1070733"/>
            <a:ext cx="7871129" cy="737032"/>
          </a:xfrm>
        </p:spPr>
        <p:txBody>
          <a:bodyPr/>
          <a:lstStyle/>
          <a:p>
            <a:r>
              <a:rPr lang="en-US" sz="3600" dirty="0"/>
              <a:t>Expected Outcome</a:t>
            </a: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89AA6-194E-1C78-6DF8-F4A52D3DD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171" y="2046514"/>
            <a:ext cx="9089571" cy="3418115"/>
          </a:xfrm>
        </p:spPr>
        <p:txBody>
          <a:bodyPr>
            <a:normAutofit/>
          </a:bodyPr>
          <a:lstStyle/>
          <a:p>
            <a:pPr lvl="0" algn="l"/>
            <a:r>
              <a:rPr lang="en-US" b="1" dirty="0"/>
              <a:t>Feature Importance Ranking:</a:t>
            </a:r>
            <a:r>
              <a:rPr lang="en-US" dirty="0"/>
              <a:t> Clear visual charts ranking top influential features (e.g., discounts, session length). </a:t>
            </a:r>
          </a:p>
          <a:p>
            <a:pPr lvl="0" algn="l"/>
            <a:r>
              <a:rPr lang="en-US" b="1" dirty="0"/>
              <a:t>High Predictive Performance:</a:t>
            </a:r>
            <a:r>
              <a:rPr lang="en-US" dirty="0"/>
              <a:t> Robust performance across Accuracy, Precision, Recall, F1-Score.</a:t>
            </a:r>
          </a:p>
          <a:p>
            <a:pPr lvl="0" algn="l"/>
            <a:r>
              <a:rPr lang="en-US" b="1" dirty="0"/>
              <a:t>Comparative Insights:</a:t>
            </a:r>
            <a:r>
              <a:rPr lang="en-US" dirty="0"/>
              <a:t> Performance comparison determining which gradient boosting framework is best suited for purchase prediction. </a:t>
            </a:r>
          </a:p>
          <a:p>
            <a:pPr lvl="0" algn="l"/>
            <a:r>
              <a:rPr lang="en-US" b="1" dirty="0"/>
              <a:t>Business Application:</a:t>
            </a:r>
            <a:r>
              <a:rPr lang="en-US" dirty="0"/>
              <a:t> Actionable insights enabling personalized recommendations and targeted marketing strategies.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74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15BA0-26DD-BB70-E3F8-B4A480C7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779" y="800100"/>
            <a:ext cx="9601200" cy="1485900"/>
          </a:xfrm>
        </p:spPr>
        <p:txBody>
          <a:bodyPr/>
          <a:lstStyle/>
          <a:p>
            <a:r>
              <a:rPr lang="en-IN" dirty="0"/>
              <a:t>Case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A1B57-C90E-31DC-5A4A-DEE63703C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85999"/>
            <a:ext cx="10339137" cy="4291263"/>
          </a:xfrm>
        </p:spPr>
        <p:txBody>
          <a:bodyPr/>
          <a:lstStyle/>
          <a:p>
            <a:r>
              <a:rPr lang="en-US" dirty="0"/>
              <a:t>Case Scenario: E-Commerce Purchase Prediction</a:t>
            </a:r>
          </a:p>
          <a:p>
            <a:pPr marL="0" indent="0">
              <a:buNone/>
            </a:pPr>
            <a:r>
              <a:rPr lang="en-US" dirty="0"/>
              <a:t>An e-commerce company wants to increase its sales by identifying customers who are likely to purchase a product. The company has customer interaction data such as session duration, product category, discount percentage, ratings, browsing history, and previous purchases.</a:t>
            </a:r>
          </a:p>
          <a:p>
            <a:pPr marL="0" indent="0">
              <a:buNone/>
            </a:pPr>
            <a:r>
              <a:rPr lang="en-US" dirty="0"/>
              <a:t>The system analyzes this data and predicts whether the customer will Purchase or Not Purchase. </a:t>
            </a:r>
            <a:r>
              <a:rPr lang="en-US" dirty="0" err="1"/>
              <a:t>XGBoost</a:t>
            </a:r>
            <a:r>
              <a:rPr lang="en-US" dirty="0"/>
              <a:t> and </a:t>
            </a:r>
            <a:r>
              <a:rPr lang="en-US" dirty="0" err="1"/>
              <a:t>LightGBM</a:t>
            </a:r>
            <a:r>
              <a:rPr lang="en-US" dirty="0"/>
              <a:t> are used to build the prediction models, while feature importance analysis identifies the factors that have the greatest influence on purchase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124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6D1A-9340-E352-2655-2087629A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6C5AE-10D3-F67E-D2BF-17230FD50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0547" y="1981199"/>
            <a:ext cx="6023811" cy="43233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Collect customer data, handle missing values, encode categorical features, and normalize data.</a:t>
            </a:r>
          </a:p>
          <a:p>
            <a:r>
              <a:rPr lang="en-US" dirty="0"/>
              <a:t>Exploratory Data Analysis – Study customer behavior, purchase patterns, discounts, and session duration.</a:t>
            </a:r>
          </a:p>
          <a:p>
            <a:r>
              <a:rPr lang="en-US" dirty="0"/>
              <a:t>Model Training – Train </a:t>
            </a:r>
            <a:r>
              <a:rPr lang="en-US" dirty="0" err="1"/>
              <a:t>XGBoost</a:t>
            </a:r>
            <a:r>
              <a:rPr lang="en-US" dirty="0"/>
              <a:t> and </a:t>
            </a:r>
            <a:r>
              <a:rPr lang="en-US" dirty="0" err="1"/>
              <a:t>LightGBM</a:t>
            </a:r>
            <a:r>
              <a:rPr lang="en-US" dirty="0"/>
              <a:t> models to predict purchase decisions.</a:t>
            </a:r>
          </a:p>
          <a:p>
            <a:r>
              <a:rPr lang="en-US" dirty="0"/>
              <a:t>Feature Importance Analysis – Identify the most influential factors affecting customer purchases.</a:t>
            </a:r>
          </a:p>
          <a:p>
            <a:r>
              <a:rPr lang="en-US" dirty="0"/>
              <a:t>Model Evaluation – Compare both models using Accuracy, Precision, Recall, F1-Score, and Confusion Matrix.</a:t>
            </a:r>
          </a:p>
          <a:p>
            <a:r>
              <a:rPr lang="en-US" dirty="0"/>
              <a:t>Prediction &amp; Insights – Predict Purchased/Not Purchased and generate useful business insights.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3B4512-4A9C-66C9-2AF8-ACE8564BA1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83116" y="2772152"/>
            <a:ext cx="4235116" cy="211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76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50AA3-FFCB-B45C-3F20-3B985E1E8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800100"/>
            <a:ext cx="9601200" cy="1485900"/>
          </a:xfrm>
        </p:spPr>
        <p:txBody>
          <a:bodyPr/>
          <a:lstStyle/>
          <a:p>
            <a:r>
              <a:rPr lang="en-IN" dirty="0"/>
              <a:t>Algorithm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F01B1-5C41-9058-849E-406C47BB6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811" y="2101516"/>
            <a:ext cx="9601200" cy="4756484"/>
          </a:xfrm>
        </p:spPr>
        <p:txBody>
          <a:bodyPr/>
          <a:lstStyle/>
          <a:p>
            <a:r>
              <a:rPr lang="en-US" dirty="0"/>
              <a:t>1. Data Preprocessing-Clean the dataset and convert customer information into suitable numerical features.</a:t>
            </a:r>
          </a:p>
          <a:p>
            <a:r>
              <a:rPr lang="en-US" dirty="0"/>
              <a:t>2. </a:t>
            </a:r>
            <a:r>
              <a:rPr lang="en-US" dirty="0" err="1"/>
              <a:t>XGBoost</a:t>
            </a:r>
            <a:r>
              <a:rPr lang="en-US" dirty="0"/>
              <a:t> Algorithm-Build multiple decision trees sequentially, where each new tree improves the errors of the previous trees</a:t>
            </a:r>
          </a:p>
          <a:p>
            <a:r>
              <a:rPr lang="en-US" dirty="0"/>
              <a:t>.3. </a:t>
            </a:r>
            <a:r>
              <a:rPr lang="en-US" dirty="0" err="1"/>
              <a:t>LightGBM</a:t>
            </a:r>
            <a:r>
              <a:rPr lang="en-US" dirty="0"/>
              <a:t> Algorithm-Use gradient boosting with efficient, leaf-wise tree growth to make predictions faster</a:t>
            </a:r>
          </a:p>
          <a:p>
            <a:r>
              <a:rPr lang="en-US" dirty="0"/>
              <a:t>4. Feature </a:t>
            </a:r>
            <a:r>
              <a:rPr lang="en-US" dirty="0" err="1"/>
              <a:t>ImportanceCalculate</a:t>
            </a:r>
            <a:r>
              <a:rPr lang="en-US" dirty="0"/>
              <a:t> and rank the features that contribute most to the purchase prediction.</a:t>
            </a:r>
          </a:p>
          <a:p>
            <a:r>
              <a:rPr lang="en-US" dirty="0"/>
              <a:t>5. Prediction &amp; </a:t>
            </a:r>
            <a:r>
              <a:rPr lang="en-US" dirty="0" err="1"/>
              <a:t>EvaluationPredict</a:t>
            </a:r>
            <a:r>
              <a:rPr lang="en-US" dirty="0"/>
              <a:t> Purchased / Not Purchased and evaluate the models using Accuracy, Precision, Recall and F1-Score.</a:t>
            </a:r>
          </a:p>
          <a:p>
            <a:pPr marL="0" indent="0">
              <a:buNone/>
            </a:pPr>
            <a:r>
              <a:rPr lang="en-IN" dirty="0"/>
              <a:t>Implementation </a:t>
            </a:r>
            <a:r>
              <a:rPr lang="en-IN" dirty="0" err="1"/>
              <a:t>flow:Dataset</a:t>
            </a:r>
            <a:r>
              <a:rPr lang="en-IN" dirty="0"/>
              <a:t> → Preprocessing → </a:t>
            </a:r>
            <a:r>
              <a:rPr lang="en-IN" dirty="0" err="1"/>
              <a:t>XGBoost</a:t>
            </a:r>
            <a:r>
              <a:rPr lang="en-IN" dirty="0"/>
              <a:t>/</a:t>
            </a:r>
            <a:r>
              <a:rPr lang="en-IN" dirty="0" err="1"/>
              <a:t>LightGBM</a:t>
            </a:r>
            <a:r>
              <a:rPr lang="en-IN" dirty="0"/>
              <a:t> → Feature Importance → Prediction → Evaluation</a:t>
            </a:r>
          </a:p>
        </p:txBody>
      </p:sp>
    </p:spTree>
    <p:extLst>
      <p:ext uri="{BB962C8B-B14F-4D97-AF65-F5344CB8AC3E}">
        <p14:creationId xmlns:p14="http://schemas.microsoft.com/office/powerpoint/2010/main" val="255136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7A73-759D-B9A1-7E01-1F78A5435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528" y="1233282"/>
            <a:ext cx="8350101" cy="867660"/>
          </a:xfrm>
        </p:spPr>
        <p:txBody>
          <a:bodyPr/>
          <a:lstStyle/>
          <a:p>
            <a:r>
              <a:rPr lang="en-US" sz="3600" dirty="0"/>
              <a:t>Conclusion &amp; Future Scope</a:t>
            </a: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05BC2-D149-5F56-ECF6-236CA188A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4500" y="2394860"/>
            <a:ext cx="8969829" cy="2971799"/>
          </a:xfrm>
        </p:spPr>
        <p:txBody>
          <a:bodyPr>
            <a:normAutofit lnSpcReduction="10000"/>
          </a:bodyPr>
          <a:lstStyle/>
          <a:p>
            <a:pPr lvl="0"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accurate purchase predictions while feature importance tools ensure model transparency for business decision-making. </a:t>
            </a:r>
          </a:p>
          <a:p>
            <a:pPr lvl="0"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streaming data for live session purchase predictions.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deep learning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frameworks.for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non-linear tabular feature modeling.</a:t>
            </a:r>
          </a:p>
          <a:p>
            <a:pPr lvl="1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pipeline as an interactive web API/dashboard for automated marketing decisions.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64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35A8-A05D-A50B-E15C-0B0F699B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257" y="2786741"/>
            <a:ext cx="7336971" cy="3004457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07291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{7E46765A-8985-4318-A16C-A71EE3A5980B}TFc3084226-2d0c-440f-9f46-6b48c7a7f670e6ba4a85-fc4a2881d6b3</Template>
  <TotalTime>283</TotalTime>
  <Words>856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Franklin Gothic Book</vt:lpstr>
      <vt:lpstr>Google Sans Text</vt:lpstr>
      <vt:lpstr>Times New Roman</vt:lpstr>
      <vt:lpstr>Crop</vt:lpstr>
      <vt:lpstr>Feature Importance Analysis for Purchase Prediction Using XGBoost and LightGBM </vt:lpstr>
      <vt:lpstr>Abstract</vt:lpstr>
      <vt:lpstr>Abstract (cont..)</vt:lpstr>
      <vt:lpstr>Problem Statement</vt:lpstr>
      <vt:lpstr>Dataset</vt:lpstr>
      <vt:lpstr>Existing System vs Modified System </vt:lpstr>
      <vt:lpstr>Expected Outcome</vt:lpstr>
      <vt:lpstr>Case Scenario</vt:lpstr>
      <vt:lpstr>Implementation </vt:lpstr>
      <vt:lpstr>Algorithm Demonstration</vt:lpstr>
      <vt:lpstr>Conclusion &amp; Future Scope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hemasri reddy</dc:creator>
  <cp:lastModifiedBy>hemasri reddy</cp:lastModifiedBy>
  <cp:revision>2</cp:revision>
  <dcterms:created xsi:type="dcterms:W3CDTF">2026-08-28T03:12:38Z</dcterms:created>
  <dcterms:modified xsi:type="dcterms:W3CDTF">2026-10-12T18:56:44Z</dcterms:modified>
</cp:coreProperties>
</file>